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768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Quikram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521208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Зубрилка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2606040"/>
            <a:ext cx="47683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роста · Финансовый план · Оценка компании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685800"/>
            <a:ext cx="21945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D4E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0" y="777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М10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92240" y="1298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в операционный плюс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92240" y="2103120"/>
            <a:ext cx="21945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D4E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8A6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69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92240" y="2715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платящих к </a:t>
            </a:r>
            <a:r>
              <a:rPr lang="en-US" sz="10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концу</a:t>
            </a: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3520440"/>
            <a:ext cx="21945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D4E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41330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валовая маржа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роста и цели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50292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драйвер роста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Продуктовая петля (PLG) — студент получает ценность сразу, без онбординга, делится с однокурсниками внутри сессии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393192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84832"/>
            <a:ext cx="50292" cy="27432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· 3 месяца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514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2514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100 контактов/мес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29535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29535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14 новых/мес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33924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Активные Free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33924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23 пользователя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" y="38313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Платящие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38313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Pro-подписки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" y="42702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42702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возврат через 7 дней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084832"/>
            <a:ext cx="411480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084832"/>
            <a:ext cx="50292" cy="2743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· 12 месяцев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2514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514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 контактов/мес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36592" y="29535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Платящие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29535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Pro-подписок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36592" y="33924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3924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34 431 ₽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36592" y="38313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Накопл. убыток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−30 551 ₽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6592" y="42702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4270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40% повторная сессия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Петля роста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0" y="914400"/>
            <a:ext cx="2286000" cy="868680"/>
          </a:xfrm>
          <a:prstGeom prst="rect">
            <a:avLst/>
          </a:prstGeom>
          <a:solidFill>
            <a:srgbClr val="1C2333"/>
          </a:solidFill>
          <a:ln w="127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474720" y="914400"/>
            <a:ext cx="2286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84448" y="1005840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загружает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лекцию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1920240"/>
            <a:ext cx="2286000" cy="868680"/>
          </a:xfrm>
          <a:prstGeom prst="rect">
            <a:avLst/>
          </a:prstGeom>
          <a:solidFill>
            <a:srgbClr val="1C2333"/>
          </a:solidFill>
          <a:ln w="12700">
            <a:solidFill>
              <a:srgbClr val="3FB9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0" y="1920240"/>
            <a:ext cx="2286000" cy="365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27648" y="2011680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 конспект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</a:t>
            </a:r>
            <a:r>
              <a:rPr lang="en-US" sz="11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3566160"/>
            <a:ext cx="2286000" cy="868680"/>
          </a:xfrm>
          <a:prstGeom prst="rect">
            <a:avLst/>
          </a:prstGeom>
          <a:solidFill>
            <a:srgbClr val="1C2333"/>
          </a:solidFill>
          <a:ln w="12700">
            <a:solidFill>
              <a:srgbClr val="58A6F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0" y="3566160"/>
            <a:ext cx="22860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3657600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 слабые темы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возвращается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3566160"/>
            <a:ext cx="2286000" cy="868680"/>
          </a:xfrm>
          <a:prstGeom prst="rect">
            <a:avLst/>
          </a:prstGeom>
          <a:solidFill>
            <a:srgbClr val="1C2333"/>
          </a:solidFill>
          <a:ln w="12700">
            <a:solidFill>
              <a:srgbClr val="F0883E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0" y="3566160"/>
            <a:ext cx="22860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38528" y="3657600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Делится 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однокурсниками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1920240"/>
            <a:ext cx="2286000" cy="868680"/>
          </a:xfrm>
          <a:prstGeom prst="rect">
            <a:avLst/>
          </a:prstGeom>
          <a:solidFill>
            <a:srgbClr val="1C2333"/>
          </a:solidFill>
          <a:ln w="12700">
            <a:solidFill>
              <a:srgbClr val="A371F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1920240"/>
            <a:ext cx="2286000" cy="36576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2011680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студент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приходит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 rot="1500000">
            <a:off x="4964431" y="75632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мгновенная ценность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 rot="3900000">
            <a:off x="5942845" y="277093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сохранённый прогресс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виральность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 rot="-3600000">
            <a:off x="64008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рекомендация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45262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Петля самовоспроизводится без </a:t>
            </a:r>
            <a:r>
              <a:rPr lang="en-US" sz="11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платного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привлечения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кратко говоря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каждый студент, </a:t>
            </a:r>
            <a:r>
              <a:rPr lang="en-US" sz="11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получивший</a:t>
            </a:r>
            <a:r>
              <a:rPr lang="ru-RU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положительный опыт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приведет как минимум 1-2 своего сокурсника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 · 0–3 месяца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697480" y="960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53712" y="960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успеха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01968" y="960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75320" y="9601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41248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" y="1325880"/>
            <a:ext cx="370332" cy="109728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99032"/>
            <a:ext cx="20391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B «ChatGPT забудет — Quikram нет» конвертирует лучше версии 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7480" y="1399032"/>
            <a:ext cx="1783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</a:t>
            </a:r>
            <a:r>
              <a:rPr lang="en-US" sz="10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53712" y="1399032"/>
            <a:ext cx="1965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у версии B, 6/10 называют «память» отличием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01968" y="1399032"/>
            <a:ext cx="1600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трафика для статистики — </a:t>
            </a:r>
            <a:r>
              <a:rPr lang="en-US" sz="10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решается</a:t>
            </a: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Telegram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1399032"/>
            <a:ext cx="731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1–2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2217" y="1720088"/>
            <a:ext cx="2212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41248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7160" y="2560320"/>
            <a:ext cx="370332" cy="109728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633472"/>
            <a:ext cx="2148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о политике файлов снимает барьер загрузки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7480" y="2633472"/>
            <a:ext cx="1783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явный баннер «файл удаляется через 24 ч»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53712" y="2633472"/>
            <a:ext cx="1965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из 10 в интервью загружают файл при наличии баннера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01968" y="2633472"/>
            <a:ext cx="1600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может отвлекать — A/B по позиции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75320" y="2633472"/>
            <a:ext cx="731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841248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37160" y="3794760"/>
            <a:ext cx="370332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875278"/>
            <a:ext cx="2148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в Telegram-чатах факультетов даёт 25% ответов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97480" y="3867912"/>
            <a:ext cx="1783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персональных сообщений в студенческие чаты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53712" y="3867912"/>
            <a:ext cx="1965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 ответов, ≥4 регистрации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01968" y="3867912"/>
            <a:ext cx="1600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</a:t>
            </a: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чрезмерный спам</a:t>
            </a: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</a:t>
            </a:r>
            <a:r>
              <a:rPr lang="en-US" sz="10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пишем</a:t>
            </a: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определенным </a:t>
            </a:r>
            <a:r>
              <a:rPr lang="ru-RU" sz="10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дилеем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75320" y="3867912"/>
            <a:ext cx="731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Нед. 1–3</a:t>
            </a:r>
            <a:endParaRPr lang="en-US" sz="105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A4AB220B-8750-4B4B-9193-0964DF7DD30E}"/>
              </a:ext>
            </a:extLst>
          </p:cNvPr>
          <p:cNvSpPr/>
          <p:nvPr/>
        </p:nvSpPr>
        <p:spPr>
          <a:xfrm>
            <a:off x="205486" y="2994660"/>
            <a:ext cx="2212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600" dirty="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B7BB5849-9B1F-441C-BB79-EF7F564CC79E}"/>
              </a:ext>
            </a:extLst>
          </p:cNvPr>
          <p:cNvSpPr/>
          <p:nvPr/>
        </p:nvSpPr>
        <p:spPr>
          <a:xfrm>
            <a:off x="211709" y="4229100"/>
            <a:ext cx="2212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 · 3–12 месяцев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697480" y="960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53712" y="960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успеха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01968" y="960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75320" y="9601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41248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" y="1325880"/>
            <a:ext cx="370332" cy="10972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399032"/>
            <a:ext cx="2148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Freemium-лимит 10 загрузок создаёт органичный момент для апгрейда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7480" y="1399032"/>
            <a:ext cx="1783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Включить счётчик загрузок, добавить pop-up при исчерпании лимита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53712" y="1399032"/>
            <a:ext cx="1965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≥10% активных freemium переходят в Pro за 4 недели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01968" y="1399032"/>
            <a:ext cx="1600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может отпугнуть — тест с 10 </a:t>
            </a:r>
            <a:r>
              <a:rPr lang="ru-RU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</a:t>
            </a: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загрузками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1399032"/>
            <a:ext cx="731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М4–М5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" y="2569464"/>
            <a:ext cx="841248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7160" y="2560320"/>
            <a:ext cx="370332" cy="10972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633472"/>
            <a:ext cx="2148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новых пользователей приходят по рекомендации без реферальной программы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7480" y="2633472"/>
            <a:ext cx="1783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Отслеживать UTM-метки, добавить кнопку «</a:t>
            </a:r>
            <a:r>
              <a:rPr lang="en-US" sz="10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поделиться</a:t>
            </a: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53712" y="2633472"/>
            <a:ext cx="1965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30%+ регистраций из источников «реферал/директ»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01968" y="2633472"/>
            <a:ext cx="1600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реферальной программы </a:t>
            </a:r>
            <a:r>
              <a:rPr lang="en-US" sz="10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</a:t>
            </a: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отследить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75320" y="2633472"/>
            <a:ext cx="731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М3–М6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841248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37160" y="3794760"/>
            <a:ext cx="370332" cy="109728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867912"/>
            <a:ext cx="2148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Школьники (ЕГЭ/ОГЭ) — второй жизнеспособный сегмент с другим паттерном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97480" y="3867912"/>
            <a:ext cx="1783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интервью со школьниками 10–11 класс, тест лендинга с формулировкой про ЕГЭ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53712" y="3867912"/>
            <a:ext cx="1965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из 10 называют конспект+тест полезным для подготовки к ЕГЭ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01968" y="3867912"/>
            <a:ext cx="1600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Другой </a:t>
            </a:r>
            <a:r>
              <a:rPr lang="en-US" sz="10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</a:t>
            </a: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0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</a:t>
            </a:r>
            <a:r>
              <a:rPr lang="ru-RU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жен немного другой подход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75320" y="3867912"/>
            <a:ext cx="731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М6–М9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0726" y="4229100"/>
            <a:ext cx="213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E6</a:t>
            </a:r>
            <a:endParaRPr lang="en-US" sz="14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FEA5C330-01D2-4B88-9CB2-4D21EEA6929D}"/>
              </a:ext>
            </a:extLst>
          </p:cNvPr>
          <p:cNvSpPr/>
          <p:nvPr/>
        </p:nvSpPr>
        <p:spPr>
          <a:xfrm>
            <a:off x="205486" y="2994660"/>
            <a:ext cx="2212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Е5</a:t>
            </a:r>
            <a:endParaRPr lang="en-US" sz="16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35974247-C40B-4058-9D45-A7DDE3C05D22}"/>
              </a:ext>
            </a:extLst>
          </p:cNvPr>
          <p:cNvSpPr/>
          <p:nvPr/>
        </p:nvSpPr>
        <p:spPr>
          <a:xfrm>
            <a:off x="231902" y="1760220"/>
            <a:ext cx="2212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ru-RU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Финансовый план · базовый сценарий · М1–М12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20040" y="9875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737360" y="987552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327148" y="987552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916936" y="987552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506724" y="987552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М4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96512" y="987552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86300" y="987552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76088" y="987552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М7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865876" y="987552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М8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55664" y="987552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М9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045452" y="987552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М10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635240" y="987552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М11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5028" y="987552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М12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325880"/>
            <a:ext cx="85039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14173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37360" y="141732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27148" y="141732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16936" y="141732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06724" y="141732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96512" y="141732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86300" y="141732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76088" y="141732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65876" y="141732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55664" y="141732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45452" y="141732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635240" y="141732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25028" y="141732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1901952"/>
            <a:ext cx="85039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0040" y="19933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Платящих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737360" y="1993392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327148" y="1993392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916936" y="1993392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06724" y="1993392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096512" y="1993392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86300" y="1993392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76088" y="1993392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65876" y="1993392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55664" y="1993392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45452" y="1993392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635240" y="1993392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225028" y="1993392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2478024"/>
            <a:ext cx="85039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20040" y="256946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₽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737360" y="2569464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327148" y="2569464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916936" y="2569464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1 497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506724" y="2569464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2 994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096512" y="2569464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4 491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686300" y="2569464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6 986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276088" y="2569464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9 980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865876" y="2569464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13 473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455664" y="2569464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17 465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045452" y="2569464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22 455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635240" y="2569464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27 944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225028" y="2569464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34 431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0040" y="3054096"/>
            <a:ext cx="85039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320040" y="31455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Чистая выруч.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737360" y="3145536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2327148" y="3145536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452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916936" y="3145536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1 355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506724" y="3145536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2 709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096512" y="3145536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4 064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686300" y="3145536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6 322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276088" y="3145536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9 032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865876" y="3145536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12 194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455664" y="3145536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15 806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045452" y="3145536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20 322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635240" y="3145536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25 289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8225028" y="3145536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31 160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20040" y="3630168"/>
            <a:ext cx="85039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320040" y="37216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 затрат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1737360" y="372160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6 716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2327148" y="372160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6 500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2916936" y="372160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8 500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3506724" y="372160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9 000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4096512" y="372160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12 000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4686300" y="372160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13 000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276088" y="372160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5865876" y="372160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6455664" y="372160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16 000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7045452" y="372160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17 000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635240" y="372160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18 000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8225028" y="3721608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18 000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320040" y="4206240"/>
            <a:ext cx="8503920" cy="530352"/>
          </a:xfrm>
          <a:prstGeom prst="rect">
            <a:avLst/>
          </a:prstGeom>
          <a:solidFill>
            <a:srgbClr val="1A2744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320040" y="4297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Опер. результат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1737360" y="429768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−6 732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2327148" y="429768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−6 092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2916936" y="429768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−7 237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3506724" y="429768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−6 447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4096512" y="429768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−8 172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4686300" y="429768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−7 010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5276088" y="429768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−5 412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5865876" y="429768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−3 370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6455664" y="429768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−890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7045452" y="429768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+2 486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7635240" y="429768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+6 305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8225028" y="4297680"/>
            <a:ext cx="589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+12 020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М10 — первый операционный плюс (+2 486 ₽)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сценария · М12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74320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2743200" cy="36576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241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Консервативный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264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 Free→Pro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6916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391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20391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₽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865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Регистраций М12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3865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724912"/>
            <a:ext cx="2468880" cy="1828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980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0632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Платящих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30632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4107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М12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34107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~10 465 ₽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7581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Опер. рез-т М12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3758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~−28 000 ₽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1056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Потр. в финанс.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41056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~320 000 ₽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73552" y="960120"/>
            <a:ext cx="274320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73552" y="960120"/>
            <a:ext cx="2743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10241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10712" y="14264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10712" y="1691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 Free→Pro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9472" y="16916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10712" y="20391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19472" y="20391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 ₽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10712" y="23865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Регистраций М12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19472" y="23865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10712" y="2724912"/>
            <a:ext cx="2468880" cy="1828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0712" y="27980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10712" y="30632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Платящих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19472" y="30632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10712" y="34107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М12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19472" y="34107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34 431 ₽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10712" y="37581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Опер. рез-т М12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19472" y="3758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+12 020 ₽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410712" y="41056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Потр. в финанс.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19472" y="41056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~165 000 ₽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81344" y="960120"/>
            <a:ext cx="274320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81344" y="960120"/>
            <a:ext cx="2743200" cy="365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18504" y="10241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Оптимистичный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318504" y="14264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18504" y="1691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 Free→Pro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827264" y="16916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18504" y="20391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827264" y="20391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699 ₽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18504" y="23865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Регистраций М12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827264" y="23865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18504" y="2724912"/>
            <a:ext cx="2468880" cy="1828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18504" y="27980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318504" y="30632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Платящих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827264" y="30632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318504" y="34107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М12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827264" y="34107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~129 740 ₽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318504" y="37581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Опер. рез-т М12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827264" y="3758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~+90 000 ₽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318504" y="41056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Потр. в финанс.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827264" y="41056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~60 000 ₽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чувствительности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9249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50292" cy="126187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14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 Free→Pro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0352" y="130759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</a:t>
            </a: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влиятельный на прибыль рычаг</a:t>
            </a: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Падение с 8% до 4% </a:t>
            </a:r>
            <a:r>
              <a:rPr lang="ru-RU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будет означать </a:t>
            </a: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</a:t>
            </a:r>
            <a:r>
              <a:rPr lang="ru-RU" sz="95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рю</a:t>
            </a:r>
            <a:r>
              <a:rPr lang="ru-RU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</a:t>
            </a: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~24 000 ₽ выручки в М12, </a:t>
            </a:r>
            <a:r>
              <a:rPr lang="ru-RU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также приведет к </a:t>
            </a:r>
            <a:r>
              <a:rPr lang="en-US" sz="95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</a:t>
            </a:r>
            <a:r>
              <a:rPr lang="ru-RU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</a:t>
            </a: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точки безубыточности за год.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429000" y="10149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45152" y="10149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Платящих М12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779008" y="10149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М12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03720" y="10149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936992" y="10149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Потр. финанс.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29000" y="130759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(−)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45152" y="130759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платящих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79008" y="130759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~10 465 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03720" y="130759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достигается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36992" y="130759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~320 000 ₽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158191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(base)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45152" y="158191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~69 платящих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79008" y="158191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~34 431 ₽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03720" y="15819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36992" y="158191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~165 000 ₽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185623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(+)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45152" y="185623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~260 платящих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79008" y="185623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~129 740 ₽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03720" y="185623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М7–М8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36992" y="185623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~60 000 ₽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350008"/>
            <a:ext cx="849249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350008"/>
            <a:ext cx="50292" cy="1261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404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(цена подписки)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" y="269748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Влияет умеренно. Снижение до 299 ₽ замедляет выход в плюс, но не критично при росте базы.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29000" y="2404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45152" y="2404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Платящих М12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779008" y="2404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М12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03720" y="2404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936992" y="2404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Потр. финанс.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429000" y="269748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₽ (−)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45152" y="26974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79008" y="26974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~10 000 ₽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03720" y="269748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М12+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936992" y="26974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~300 000 ₽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29000" y="297180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 ₽ (base)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45152" y="297180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79008" y="297180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~34 431 ₽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03720" y="29718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936992" y="297180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~165 000 ₽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429000" y="324612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699 ₽ (+)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45152" y="324612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779008" y="324612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~48 000+ ₽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03720" y="324612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М8–М9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936992" y="324612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~80 000 ₽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4660" y="3730752"/>
            <a:ext cx="841248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65760" y="3739896"/>
            <a:ext cx="50292" cy="1261872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outreach / CAC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0352" y="408736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Усиливает оба эффекта. Удвоение outreach при сохранении конверсий ускоряет рост базы в 2×.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429000" y="3794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645152" y="3794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Платящих М12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779008" y="3794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М12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03720" y="3794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936992" y="3794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Потр. финанс.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429000" y="408736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−50% охвата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645152" y="40873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платящих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779008" y="40873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~17 000 ₽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903720" y="408736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достигается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936992" y="40873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429000" y="43616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(460/мес)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645152" y="436168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~69 платящих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779008" y="436168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~34 431 ₽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903720" y="43616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М10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936992" y="436168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429000" y="463600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 охвата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645152" y="463600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~105 платящих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779008" y="463600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~52 000 ₽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903720" y="463600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М8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936992" y="463600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91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компании · Метод 1: Venture Capital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0664"/>
            <a:ext cx="8412480" cy="777240"/>
          </a:xfrm>
          <a:prstGeom prst="rect">
            <a:avLst/>
          </a:prstGeom>
          <a:solidFill>
            <a:srgbClr val="1C2333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6052" y="740664"/>
            <a:ext cx="50292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32104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Логика: оцениваем через будущую стоимость на </a:t>
            </a:r>
            <a:r>
              <a:rPr lang="en-US" sz="115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выходе</a:t>
            </a: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</a:t>
            </a: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3–5 лет и требуемую доходность инвестора. Допущение: инвестор хочет 10× за 5 лет.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6344" y="1646428"/>
            <a:ext cx="841248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1043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ARR на горизонте 5 лет (оптимистичный сценарий)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0" y="169646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ru-RU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ru-RU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млн ₽/год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1982"/>
            <a:ext cx="8412480" cy="438912"/>
          </a:xfrm>
          <a:prstGeom prst="rect">
            <a:avLst/>
          </a:prstGeom>
          <a:solidFill>
            <a:srgbClr val="1C2333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20421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Мультипликатор выхода EV/ARR для EdTech SaaS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20840" y="22042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8618"/>
            <a:ext cx="841248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72262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ru-RU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при продаже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12280" y="270941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ru-RU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млн 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412480" cy="438912"/>
          </a:xfrm>
          <a:prstGeom prst="rect">
            <a:avLst/>
          </a:prstGeom>
          <a:solidFill>
            <a:srgbClr val="1C2333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26720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Требуемая доходность инвестора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12280" y="328041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за 5 лет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" y="3730752"/>
            <a:ext cx="841248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7947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ru-RU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1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ценка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сейчас (Exit / 10×)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12280" y="38130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–6.4 млн ₽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" y="4261104"/>
            <a:ext cx="8412480" cy="438912"/>
          </a:xfrm>
          <a:prstGeom prst="rect">
            <a:avLst/>
          </a:prstGeom>
          <a:solidFill>
            <a:srgbClr val="1C2333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34213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Pre-money (при инвестиции ~500 тыс. ₽)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435483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–5 млн ₽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81042"/>
            <a:ext cx="449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 оценки по VC-методу: 2 — 5 </a:t>
            </a:r>
            <a:r>
              <a:rPr lang="en-US" sz="1200" b="1" dirty="0" err="1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</a:t>
            </a: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₽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компании ·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r>
              <a:rPr lang="ru-RU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2: </a:t>
            </a:r>
            <a:r>
              <a:rPr lang="en-US" sz="3200" b="1" dirty="0" err="1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Мультипликаторы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599819" y="1031173"/>
            <a:ext cx="5949950" cy="319100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49527" y="1031173"/>
            <a:ext cx="50292" cy="319100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540256"/>
            <a:ext cx="1299820" cy="32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(М12, base)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34840" y="1540256"/>
            <a:ext cx="1083183" cy="32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~34 431 ₽/мес ×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06440" y="1540256"/>
            <a:ext cx="613804" cy="32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~413 000 ₽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2015744"/>
            <a:ext cx="1299820" cy="32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EV/ARR EdTech SaaS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34840" y="2015744"/>
            <a:ext cx="1083183" cy="32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3–5× (ранняя стадия)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06440" y="2015744"/>
            <a:ext cx="613804" cy="32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2491232"/>
            <a:ext cx="1299820" cy="32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(нижн.)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2491232"/>
            <a:ext cx="1083183" cy="32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413 000 ×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06440" y="2491232"/>
            <a:ext cx="613804" cy="32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~1.24 млн ₽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68346" y="2966720"/>
            <a:ext cx="1299820" cy="32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(верхн.)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5132" y="2966720"/>
            <a:ext cx="1083183" cy="32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413 000 × 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6732" y="2966720"/>
            <a:ext cx="613804" cy="32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~2.07 млн 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14600" y="4448235"/>
            <a:ext cx="384048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58A6F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41141" y="4567107"/>
            <a:ext cx="18402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Диапазон: 1.2 — 2.1 млн ₽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диапазон оценки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49680" y="1035304"/>
            <a:ext cx="274320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49680" y="1035304"/>
            <a:ext cx="2743200" cy="365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6840" y="11084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Method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86840" y="147421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5 млн 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86840" y="19314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51120" y="1033018"/>
            <a:ext cx="274320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51120" y="1033018"/>
            <a:ext cx="27432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88280" y="110617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Мультипликаторы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15712" y="147193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2.1 млн 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15712" y="192913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Вспомогательный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651760"/>
            <a:ext cx="841248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3FB9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2743200"/>
            <a:ext cx="15405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диапазон: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724912"/>
            <a:ext cx="167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— 6 млн ₽  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" y="3200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Разброс </a:t>
            </a:r>
            <a:r>
              <a:rPr lang="en-US" sz="105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обусловлен</a:t>
            </a: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такими вещами как</a:t>
            </a: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нет revenue-трека, нет ретеншн-статистики. Верхняя граница достигается при подтверждении конверсии 8%+ и retention 30%+.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8412480" cy="1298448"/>
          </a:xfrm>
          <a:prstGeom prst="rect">
            <a:avLst/>
          </a:prstGeom>
          <a:solidFill>
            <a:srgbClr val="1C2333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допущения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0416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ARR года 5 — 6–8 млн ₽ (base/оптимистичный сценарий, рост 2× г/г)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26110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Мультипликатор выхода EV/ARR 5–8× — типично для EdTech SaaS ранней стадии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44805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Ставка дисконтирования DCF 35% — высокий риск, нет выручки-трека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70001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Сравнимые компании: Quizlet, Anki-аналоги, Stepik — скорректированы на размер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факторов роста оценки · план на 4–8 недель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50292" cy="7498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149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Доказать конверсию Free→Pro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риск модели. Первые платящие = подтверждение спроса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46120" y="10149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05072" y="101498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Запустить лимит 10 загрузок + pop-up апгрейда в первые 2 недели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05472" y="10149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05472" y="1271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 платящих за 4 недели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84124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83080"/>
            <a:ext cx="50292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8379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повторный визит через 7 дней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1488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— главный сигнал для инвестора, что продукт нужен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46120" y="18379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05072" y="183794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Push/email-напоминание за 3 дня до экзамена студента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05472" y="18379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205472" y="20939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возврат через 7 дней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84124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606040"/>
            <a:ext cx="50292" cy="7498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6609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Нарастить базу активных пользователей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9718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базы влияет на мультипликатор и exit value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46120" y="26609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005072" y="266090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100+ в мес, добавить кнопку «поделиться» после теста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05472" y="26609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05472" y="29169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≥50 активных Free за 6 недель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429000"/>
            <a:ext cx="84124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429000"/>
            <a:ext cx="50292" cy="7498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4838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публичные отзывы (social proof)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37947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Снижает воспринимаемый риск для инвестора и новых пользователей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46120" y="348386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005072" y="348386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Попросить 10 первых пользователей оставить отзыв / скрин результата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05472" y="34838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05472" y="37398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отзывов с оценкой 4+/5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251960"/>
            <a:ext cx="84124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251960"/>
            <a:ext cx="50292" cy="749808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3068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Подтвердить второй сегмент (школьники/ЕГЭ)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46177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TAM → выше мультипликатор и интерес инвесторов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46120" y="43068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005072" y="430682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интервью со школьниками 10–11 класс, тест лендинга с посылом ЕГЭ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05472" y="43068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205472" y="45628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 подтверждают ценность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Quikram · стратегия роста, финансы, оценка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26974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600200"/>
            <a:ext cx="50292" cy="15727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Драйвер роста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203911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PLG-петля: ценность сразу → студент делится → новые пользователи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73552" y="1600200"/>
            <a:ext cx="26974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73552" y="1600200"/>
            <a:ext cx="50292" cy="15727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8144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38144" y="203911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в плюс М10, MRR 34 431 ₽ к концу года, маржа 87%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1600200"/>
            <a:ext cx="26974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600200"/>
            <a:ext cx="50292" cy="15727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5936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45936" y="203911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— 6 </a:t>
            </a:r>
            <a:r>
              <a:rPr lang="en-US" sz="11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₽. </a:t>
            </a:r>
            <a:r>
              <a:rPr lang="en-US" sz="11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Верхняя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1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доказанном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retention и </a:t>
            </a:r>
            <a:r>
              <a:rPr lang="en-US" sz="11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37560"/>
            <a:ext cx="26974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37560"/>
            <a:ext cx="50292" cy="157276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429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риск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377647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Конвертирование из 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</a:t>
            </a:r>
            <a:r>
              <a:rPr lang="ru-RU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подписки на 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Pro. Падение с 8% до 4% </a:t>
            </a:r>
            <a:r>
              <a:rPr lang="ru-RU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будет означать что </a:t>
            </a:r>
            <a:r>
              <a:rPr lang="en-US" sz="11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прибыли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</a:t>
            </a:r>
            <a:r>
              <a:rPr lang="ru-RU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 будет.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73552" y="3337560"/>
            <a:ext cx="26974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73552" y="3337560"/>
            <a:ext cx="50292" cy="1572768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38144" y="3429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#1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38144" y="377647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5 платящих за 4 недели — закрывает главную неопределённость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1344" y="3337560"/>
            <a:ext cx="26974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2A3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1344" y="3337560"/>
            <a:ext cx="50292" cy="157276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3429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45936" y="377647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30 </a:t>
            </a:r>
            <a:r>
              <a:rPr lang="en-US" sz="11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контактов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1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загрузок</a:t>
            </a: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1589</Words>
  <Application>Microsoft Office PowerPoint</Application>
  <PresentationFormat>Экран (16:9)</PresentationFormat>
  <Paragraphs>411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Артур Ткаченко</cp:lastModifiedBy>
  <cp:revision>28</cp:revision>
  <dcterms:created xsi:type="dcterms:W3CDTF">2026-05-16T08:55:17Z</dcterms:created>
  <dcterms:modified xsi:type="dcterms:W3CDTF">2026-05-16T09:46:08Z</dcterms:modified>
</cp:coreProperties>
</file>