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49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D3461"/>
          </a:solidFill>
          <a:ln w="10160">
            <a:solidFill>
              <a:srgbClr val="1D3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212848"/>
            <a:ext cx="4572000" cy="4572000"/>
          </a:xfrm>
          <a:prstGeom prst="ellipse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92808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058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02920" y="2029968"/>
            <a:ext cx="42650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AI-сервис подготовки к экзаменам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2633472"/>
            <a:ext cx="64008" cy="1097280"/>
          </a:xfrm>
          <a:prstGeom prst="rect">
            <a:avLst/>
          </a:prstGeom>
          <a:solidFill>
            <a:srgbClr val="4F6EF7"/>
          </a:solidFill>
          <a:ln w="10160">
            <a:solidFill>
              <a:srgbClr val="4F6E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2633472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r>
              <a:rPr lang="en-US" sz="16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онкурентный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анализ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4553712"/>
            <a:ext cx="391885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Сегмент, сценарий и проблема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Контекст, в котором рождается потребность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697480" cy="33832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2697480" cy="402336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11556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Студенты IT и техн. вузов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2860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2–4 курс, 19–24 года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944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Россия, активные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1115568"/>
            <a:ext cx="2697480" cy="33832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15568"/>
            <a:ext cx="2697480" cy="402336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11556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46704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осталось мало</a:t>
            </a: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экзамена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46704" y="22860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Лекции и в целом материал не открывались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46704" y="2944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Непонятно, что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повторять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первую очередь и какие темы проблемнее всего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1115568"/>
            <a:ext cx="2697480" cy="33832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115568"/>
            <a:ext cx="2697480" cy="402336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115568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16276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огромная трата времени на поиск материала по темам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не на учебу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22860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маленькие способы проверить свои навыки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они исчерпаемы и не проверят знания на достаточно хороший уровень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30358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ru-RU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в интернете не всегда помогает так как он </a:t>
            </a:r>
            <a:r>
              <a:rPr lang="ru-RU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обобщеный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Ценностное предложение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гипотеза и два альтернативных варианта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30768" cy="1572768"/>
          </a:xfrm>
          <a:prstGeom prst="rect">
            <a:avLst/>
          </a:prstGeom>
          <a:solidFill>
            <a:srgbClr val="0D1E40"/>
          </a:solidFill>
          <a:ln w="10160">
            <a:solidFill>
              <a:srgbClr val="3B5B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82296" cy="1572768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15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гипотеза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8065008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студентов IT-вузов в ситуации подготовки к </a:t>
            </a:r>
            <a:r>
              <a:rPr lang="en-US" sz="115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экзамену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ru-RU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короткое время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обеспечивает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определенный план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15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</a:t>
            </a:r>
            <a:r>
              <a:rPr lang="ru-RU" sz="1150" i="1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ое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со статистикой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 собственных материалов студента, </a:t>
            </a:r>
            <a:r>
              <a:rPr lang="ru-RU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позволяет сэкономить время студента очень сильно в сравнении с  тем если бы студент сам искал информацию и после думал как через </a:t>
            </a: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</a:t>
            </a:r>
            <a:r>
              <a:rPr lang="ru-RU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самому проверить свои знания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4160520" cy="2029968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2862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A — акцент на проверку знаний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317296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студентов, которые не знают, готовы ли они к экзамену,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сможет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лекциям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вместо того чтобы часами составлять вопросы самому или искать чужие.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2788920"/>
            <a:ext cx="4160520" cy="2029968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862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 Б — акцент на экономию времени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3172968"/>
            <a:ext cx="38404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студента с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горящим дедлайном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экзамена и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огромным скоплением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материала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2 минуты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на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уходит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4–5 часов: выжимку, список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ключевых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благодаря которой можно выявить проблемные темы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тестирование с разными уровнями сложности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рямой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конкурент — Quizlet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931920" cy="2377440"/>
          </a:xfrm>
          <a:prstGeom prst="rect">
            <a:avLst/>
          </a:prstGeom>
          <a:solidFill>
            <a:srgbClr val="111827"/>
          </a:solidFill>
          <a:ln w="10160">
            <a:solidFill>
              <a:srgbClr val="2D3E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 интерфейса Quizlet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7130" y="1024128"/>
            <a:ext cx="3989398" cy="237744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07130" y="1024128"/>
            <a:ext cx="3989397" cy="347472"/>
          </a:xfrm>
          <a:prstGeom prst="rect">
            <a:avLst/>
          </a:prstGeom>
          <a:solidFill>
            <a:srgbClr val="4257B2"/>
          </a:solidFill>
          <a:ln w="10160">
            <a:solidFill>
              <a:srgbClr val="4257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7128" y="1024128"/>
            <a:ext cx="252635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1097280"/>
            <a:ext cx="694944" cy="201168"/>
          </a:xfrm>
          <a:prstGeom prst="rect">
            <a:avLst/>
          </a:prstGeom>
          <a:solidFill>
            <a:srgbClr val="EF4444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91856" y="1097280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07130" y="1408176"/>
            <a:ext cx="3852238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Крупнейшая в мире платформа для создания карточек и тестов с аудиторией более 500 млн пользователей. Студенты создают наборы карточек вручную или ищут готовые наборы других пользователей. В 2023 году добавили AI-функции, однако они доступны только в платной версии.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251460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6393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Огромная база готовых наборов карточек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Простой и привычный интерфейс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4443984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AI-генерация (платно) на базе своего текста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4709160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Мобильное приложение с режимом игры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90088" y="3566160"/>
            <a:ext cx="2514600" cy="146304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27248" y="36393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27248" y="3913632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AI-функции только за </a:t>
            </a:r>
            <a:r>
              <a:rPr lang="en-US" sz="8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подпиской</a:t>
            </a: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</a:t>
            </a:r>
            <a:r>
              <a:rPr lang="ru-RU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+/мес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27248" y="4178808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Нет анализа PDF — нужно вводить текст вручную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27248" y="4443984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Нет плана подготовки и аналитики пробелов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27248" y="4709160"/>
            <a:ext cx="226771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8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</a:t>
            </a: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круто</a:t>
            </a: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они не всегда позволят проверить разные навыки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14416" y="3566160"/>
            <a:ext cx="3182112" cy="1463040"/>
          </a:xfrm>
          <a:prstGeom prst="rect">
            <a:avLst/>
          </a:prstGeom>
          <a:solidFill>
            <a:srgbClr val="0D1E40"/>
          </a:solidFill>
          <a:ln w="1016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42432" y="3639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отличается Quikram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42432" y="3913632"/>
            <a:ext cx="292608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Quizlet требует вводить материал вручную или искать чужие наборы. Quikram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принимает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PDF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файлы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сразу строит тест — без ручного труда. Аналитика пробелов и план подготовки в Quizlet отсутствуют: студент не знает, что учить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04E1E80-7374-AD34-10B6-AF8E4E45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24128"/>
            <a:ext cx="42519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0045"/>
            <a:ext cx="8699863" cy="5643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Остальные п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рямые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конкуренты — Stepik и Skysmart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298448"/>
          </a:xfrm>
          <a:prstGeom prst="rect">
            <a:avLst/>
          </a:prstGeom>
          <a:solidFill>
            <a:srgbClr val="111827"/>
          </a:solidFill>
          <a:ln w="10160">
            <a:solidFill>
              <a:srgbClr val="2D3E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 интерфейса Stepik 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522112"/>
            <a:ext cx="4206240" cy="347472"/>
          </a:xfrm>
          <a:prstGeom prst="rect">
            <a:avLst/>
          </a:prstGeom>
          <a:solidFill>
            <a:srgbClr val="EA4C18"/>
          </a:solidFill>
          <a:ln w="10160">
            <a:solidFill>
              <a:srgbClr val="EA4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508887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Stepik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74512" y="2607346"/>
            <a:ext cx="713232" cy="201168"/>
          </a:xfrm>
          <a:prstGeom prst="rect">
            <a:avLst/>
          </a:prstGeom>
          <a:solidFill>
            <a:srgbClr val="EF4444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2589059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828109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Российская платформа онлайн-курсов с более чем 4 млн пользователей. Основной фокус — программирование, математика и IT-дисциплины. Популярна среди студентов технических вузов как дополнение к основной учёбе.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475488" y="349300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Плюсы2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372160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Сильный каталог курсов по IT и математике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977640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Адаптивные тренажёры и задачи с проверкой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4225181"/>
            <a:ext cx="209136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</a:t>
            </a:r>
            <a:r>
              <a:rPr lang="ru-RU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некоторыми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университетами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России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2888" y="3521746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850" b="1" dirty="0" err="1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Минусы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14600" y="3741202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Нет загрузки своих материалов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3968496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ru-RU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основном о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риентирован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новые знания, не на повторение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4238897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ru-RU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качественные курсы платные и стоят достаточно дорого для студентов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4553712"/>
            <a:ext cx="4206240" cy="530352"/>
          </a:xfrm>
          <a:prstGeom prst="rect">
            <a:avLst/>
          </a:prstGeom>
          <a:solidFill>
            <a:srgbClr val="0D1E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384" y="456285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Quikram: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Stepik обучает с нуля по готовому курсу. Quikram помогает повторить то,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уже слышал или видел.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767952"/>
            <a:ext cx="4206240" cy="1536336"/>
          </a:xfrm>
          <a:prstGeom prst="rect">
            <a:avLst/>
          </a:prstGeom>
          <a:solidFill>
            <a:srgbClr val="111827"/>
          </a:solidFill>
          <a:ln w="10160">
            <a:solidFill>
              <a:srgbClr val="2D3E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00584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скриншот интерфейса Skysmart 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91456" y="2522112"/>
            <a:ext cx="4206240" cy="347472"/>
          </a:xfrm>
          <a:prstGeom prst="rect">
            <a:avLst/>
          </a:prstGeom>
          <a:solidFill>
            <a:srgbClr val="FF6B00"/>
          </a:solidFill>
          <a:ln w="1016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515907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Skysmart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93024" y="2598202"/>
            <a:ext cx="713232" cy="201168"/>
          </a:xfrm>
          <a:prstGeom prst="rect">
            <a:avLst/>
          </a:prstGeom>
          <a:solidFill>
            <a:srgbClr val="EF4444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2589059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3752" y="2808514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платформа для школьников от Mail.ru Group, специализирующаяся на подготовке к ЕГЭ/ОГЭ. Адаптивные задания, подробный разбор ошибок. Более 2 млн учеников, преимущественно 8–11 классы.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4882896" y="3438144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Плюсы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82896" y="367588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Сильная адаптивная система заданий под ЕГЭ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2896" y="390448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Подробная аналитика ошибок и прогресса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82896" y="413308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Узнаваемый бренд на школьном рынке РФ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22008" y="3438144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Минусы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22008" y="367588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Аудитория — школьники, не студенты вузов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22008" y="390448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Нет загрузки своих материалов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22008" y="4133088"/>
            <a:ext cx="1947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Не охватывает технические вузовские дисциплины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18888" y="4553712"/>
            <a:ext cx="4206240" cy="530352"/>
          </a:xfrm>
          <a:prstGeom prst="rect">
            <a:avLst/>
          </a:prstGeom>
          <a:solidFill>
            <a:srgbClr val="0D1E4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456155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Quikram: 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Skysmart — инструмент для школьников и ЕГЭ.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Quikram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свою очередь дополнительно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вузовскими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дисциплинами</a:t>
            </a:r>
            <a:r>
              <a:rPr lang="ru-RU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201553B9-83E9-EFD4-E8DC-B0C47EDC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535577"/>
            <a:ext cx="4206240" cy="1896727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80AE91DB-8A47-748E-12B2-EDE52F636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33220"/>
            <a:ext cx="4237478" cy="1899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 MVP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Support — Later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2670048" cy="4041648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2670048" cy="402336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789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" y="1499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невозможна без этого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93776" y="1837944"/>
            <a:ext cx="54864" cy="36576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739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профиль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1993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без регистрации → опциональный аккаунт для сохранения прогресса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93776" y="2404872"/>
            <a:ext cx="54864" cy="36576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40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PDF / DOCX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Принять материал студента — точка входа в ценность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3776" y="2971800"/>
            <a:ext cx="54864" cy="36576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077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AI-выжимка по темам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Конспект из лекции за секунды вместо часов перечитывания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" y="3538728"/>
            <a:ext cx="54864" cy="36576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747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тестов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Самопроверка по своему материалу — главная незакрытая потребность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3776" y="4105656"/>
            <a:ext cx="54864" cy="36576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041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тестирования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4261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Прохождение тестов, детальная статистика, AI-рекомендации что подтянуть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3776" y="4672584"/>
            <a:ext cx="54864" cy="36576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6085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AI-чат по материалу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4828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Задать любой вопрос по загруженной теме, получить объяснение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18688" y="1078992"/>
            <a:ext cx="2670048" cy="4041648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1078992"/>
            <a:ext cx="2670048" cy="402336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10789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46704" y="1499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Улучшает доставку ценности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46704" y="1837944"/>
            <a:ext cx="54864" cy="36576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17739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готовых сборников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1993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раздел с материалами — первый визит без загрузки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46704" y="2404872"/>
            <a:ext cx="54864" cy="36576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340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пробелов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слабые темы по результатам тестов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46704" y="2971800"/>
            <a:ext cx="54864" cy="36576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29077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74720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перед сессией — возврат в продукт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46704" y="3538728"/>
            <a:ext cx="54864" cy="36576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4747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конспекта (PDF/WORD)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Распечатать или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поделиться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r>
              <a:rPr lang="ru-RU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ым</a:t>
            </a:r>
            <a:r>
              <a:rPr lang="ru-RU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коснпектом</a:t>
            </a:r>
            <a:r>
              <a:rPr lang="ru-RU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необходимым материалом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71616" y="1078992"/>
            <a:ext cx="2670048" cy="4041648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71616" y="1078992"/>
            <a:ext cx="2670048" cy="402336"/>
          </a:xfrm>
          <a:prstGeom prst="rect">
            <a:avLst/>
          </a:prstGeom>
          <a:solidFill>
            <a:srgbClr val="47556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10789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99632" y="1499616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Отложить без </a:t>
            </a:r>
            <a:r>
              <a:rPr lang="en-US" sz="8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</a:t>
            </a: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ценноти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99632" y="1837944"/>
            <a:ext cx="54864" cy="365760"/>
          </a:xfrm>
          <a:prstGeom prst="rect">
            <a:avLst/>
          </a:prstGeom>
          <a:solidFill>
            <a:srgbClr val="47556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17739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Реферальная система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27648" y="19933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Скидки на подписку и доп платные услуги за счет приглашения друзей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ru-RU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знакомых по </a:t>
            </a:r>
            <a:r>
              <a:rPr lang="ru-RU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</a:t>
            </a:r>
            <a:r>
              <a:rPr lang="ru-RU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сыллке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99632" y="2404872"/>
            <a:ext cx="54864" cy="365760"/>
          </a:xfrm>
          <a:prstGeom prst="rect">
            <a:avLst/>
          </a:prstGeom>
          <a:solidFill>
            <a:srgbClr val="47556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23408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и совместное изучение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друзей, совместные тесты — отдельный продуктовый трек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199632" y="2971800"/>
            <a:ext cx="54864" cy="365760"/>
          </a:xfrm>
          <a:prstGeom prst="rect">
            <a:avLst/>
          </a:prstGeom>
          <a:solidFill>
            <a:srgbClr val="47556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9077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27648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улучшения пользовательского опыта.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99632" y="3538728"/>
            <a:ext cx="54864" cy="365760"/>
          </a:xfrm>
          <a:prstGeom prst="rect">
            <a:avLst/>
          </a:prstGeom>
          <a:solidFill>
            <a:srgbClr val="47556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34747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аудио / видео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27648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Транскрибация лекций — нужна отдельная инфраструктура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ценности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подтвердить до начала разработки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206240" cy="17830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78992"/>
            <a:ext cx="64008" cy="1783080"/>
          </a:xfrm>
          <a:prstGeom prst="rect">
            <a:avLst/>
          </a:prstGeom>
          <a:solidFill>
            <a:srgbClr val="EF4444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188720"/>
            <a:ext cx="502920" cy="274320"/>
          </a:xfrm>
          <a:prstGeom prst="rect">
            <a:avLst/>
          </a:prstGeom>
          <a:solidFill>
            <a:srgbClr val="EF4444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88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118872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вопрос — 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сможет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увидеть и назвать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реальное отличие Quikram от привычного ChatGPT. Для проверки: интервью с 10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студентами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Подтверждением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считается ситуация, когда 7 из 10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участников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использования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называют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конкретное отличие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4206240" cy="17830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1078992"/>
            <a:ext cx="64008" cy="178308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1188720"/>
            <a:ext cx="502920" cy="27432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1887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0" y="118872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конспекта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своего PDF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1536192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проверить, воспринимает ли студент AI-конспект из своей лекции как реальную ценность или просто как «ещё один текст». Метод: ручной прототип — студент загружает PDF, конспект формируется вручную через GPT и отдаётся пользователю. Критерий: оценка результата не ниже 4 из 5 у восьми участников из десяти.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4206240" cy="17830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44952"/>
            <a:ext cx="64008" cy="178308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" y="3154680"/>
            <a:ext cx="502920" cy="274320"/>
          </a:xfrm>
          <a:prstGeom prst="rect">
            <a:avLst/>
          </a:prstGeom>
          <a:solidFill>
            <a:srgbClr val="3B5BDB"/>
          </a:solidFill>
          <a:ln w="10160">
            <a:solidFill>
              <a:srgbClr val="3B5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1546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" y="315468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загружать свои учебные материалы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502152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к загрузке файлов — ключевой барьер. Проверяется через интервью и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опрос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 вопросов по типу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«Загрузили бы вы лекцию при наличии явной политики конфиденциальности?». Гипотеза подтверждается, если не менее 70% респондентов дают положительный ответ.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3044952"/>
            <a:ext cx="4206240" cy="1783080"/>
          </a:xfrm>
          <a:prstGeom prst="rect">
            <a:avLst/>
          </a:prstGeom>
          <a:solidFill>
            <a:srgbClr val="1E293B"/>
          </a:solidFill>
          <a:ln w="10160">
            <a:solidFill>
              <a:srgbClr val="2D3E55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3044952"/>
            <a:ext cx="64008" cy="178308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3154680"/>
            <a:ext cx="502920" cy="274320"/>
          </a:xfrm>
          <a:prstGeom prst="rect">
            <a:avLst/>
          </a:prstGeom>
          <a:solidFill>
            <a:srgbClr val="7C3AE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31546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315468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платные услуги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3502152"/>
            <a:ext cx="393192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привыкли к бесплатным инструментам — важно проверить готовность платить после того, как ценность доказана. 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этого можно использовать т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функций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ограниченный MVP с 3 бесплатными предметами, аналитика и расширенные тесты — платно. Подтверждение: не менее 10%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пользователей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переходят на платный план в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течение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первых двух сессий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1071</Words>
  <Application>Microsoft Office PowerPoint</Application>
  <PresentationFormat>Экран (16:9)</PresentationFormat>
  <Paragraphs>127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Quikram — Value Proposition</dc:title>
  <dc:subject>PptxGenJS Presentation</dc:subject>
  <dc:creator>PptxGenJS</dc:creator>
  <cp:lastModifiedBy>Артур Ткаченко</cp:lastModifiedBy>
  <cp:revision>34</cp:revision>
  <dcterms:created xsi:type="dcterms:W3CDTF">2026-04-23T04:48:55Z</dcterms:created>
  <dcterms:modified xsi:type="dcterms:W3CDTF">2026-04-23T06:00:40Z</dcterms:modified>
</cp:coreProperties>
</file>