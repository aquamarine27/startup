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6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29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3B5BDB">
              <a:alpha val="18000"/>
            </a:srgbClr>
          </a:solidFill>
          <a:ln w="12700">
            <a:solidFill>
              <a:srgbClr val="3B5BDB">
                <a:alpha val="18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Зубрилка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54864" cy="11887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65176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</a:t>
            </a: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</a:t>
            </a:r>
            <a:r>
              <a:rPr lang="en-US" sz="17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</a:t>
            </a: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поможет тебе быстро и качественно подготовится к любым экзаменам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1887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Рынок: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r>
              <a:rPr lang="ru-R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СНГ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презентации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ключевых блока инвестиционного дека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768096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502920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3350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6824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ключевые боли целевого сегмента с доказательными сигналами из источников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59552" y="1371600"/>
            <a:ext cx="27432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5331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Доказать, что проблема существенна и реальна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768096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502920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221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клиент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5694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 сегмента, персона, JTBD-формулировка, барьеры входа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59552" y="2258568"/>
            <a:ext cx="27432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2402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Показать, кто платит и почему именно эти пользователи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35808"/>
            <a:ext cx="8412480" cy="768096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35808"/>
            <a:ext cx="502920" cy="768096"/>
          </a:xfrm>
          <a:prstGeom prst="rect">
            <a:avLst/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35808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456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TAM / SAM / SOM с расчётом, допущениями и источниками данных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59552" y="3145536"/>
            <a:ext cx="27432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12724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Обосновать масштаб возможности и реалистичную долю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22776"/>
            <a:ext cx="8412480" cy="768096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22776"/>
            <a:ext cx="502920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22776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3995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4343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драйверов, объясняющих оптимальный момент входа на рынок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59552" y="4032504"/>
            <a:ext cx="27432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4014216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Показать, почему окно возможностей открыто именно сейчас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готовятся к экзаменам неэффективно — и рынок это никак не закрывает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33472" cy="3246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630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времени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2450592"/>
            <a:ext cx="24231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часов уходит на поиск и фильтрацию материалов до того, как студент начинает реально повторять. Вместо учёбы — листание PDF в поисках нужной темы.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42793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наблюдение: студенческие Telegram-чаты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0" y="1298448"/>
            <a:ext cx="2633472" cy="3246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4630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0128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способа проверить себя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10128" y="2450592"/>
            <a:ext cx="24231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прочтения лекций студент не знает, готов ли он к экзамену. Придумывать вопросы самому неудобно, а чужие тесты из интернета не соответствуют материалу преподавателя.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291840" y="42793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</a:t>
            </a:r>
            <a:r>
              <a:rPr lang="en-US" sz="8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студенческие</a:t>
            </a: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форумы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35040" y="1298448"/>
            <a:ext cx="2633472" cy="3246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4630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44768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расходится с программой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44768" y="2450592"/>
            <a:ext cx="24231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объясняет темы обобщённо, а не так, как их подаёт конкретный преподаватель. Студент тратит время на поиск подходящего видео — и часто не находит.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26480" y="42793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desk research, анализ поисковых запросов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Сигнал: ChatGPT используют 70%+ студентов — но как расширенный поисковик, а не инструмент подготовки к конкретному экзамену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клиент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технического вуза: объёмный материал, минимум времени, нет подходящего инструмента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8988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Артём, 20 лет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15568" y="1664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курс  ·  Прикладная информатика  ·  Москва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" y="2057400"/>
            <a:ext cx="1463040" cy="34747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1E3A8A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2057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29968" y="209397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начинается за 2–4 дня до экзамена, в режиме цейтнота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" y="2569464"/>
            <a:ext cx="1463040" cy="34747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1E3A8A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25694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29968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и ChatGPT — как поисковик, не как система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" y="3081528"/>
            <a:ext cx="1463040" cy="34747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1E3A8A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30815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боль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029968" y="31181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непонятно, достаточно ли он разобрался в теме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" y="3593592"/>
            <a:ext cx="1463040" cy="34747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1E3A8A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" y="35935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платить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29968" y="3630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8 EUR/мес — если сервис докажет ценность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" y="4105656"/>
            <a:ext cx="1463040" cy="347472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1E3A8A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41056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 входа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029968" y="41422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«ChatGPT ведь делает примерно то же самое»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1234440"/>
            <a:ext cx="4114800" cy="157276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которую студент нанимает продукт выполнить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1664208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«Когда до экзамена 2–3 дня и лекции не открывались с начала семестра, я хочу быстро получить выжимку и тест по своим материалам — чтобы понять, что знаю, а что нет»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2907792"/>
            <a:ext cx="4114800" cy="189280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сегмента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00600" y="33649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Кто: 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0" y="336499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IT и технических вузов, 2–4 курс, 19–24 года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800600" y="36941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Контекст: 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0" y="369417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дважды в год, острая нехватка времени перед экзаменом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00600" y="40233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Каналы: 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669280" y="40233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Telegram-чаты факультетов, Discord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сообщества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00600" y="435254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69280" y="435254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до 8 EUR/мес, нежелание тратить время на регистрацию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— рынок России, горизонт 2025–2027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520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71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" y="1828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ru-RU" sz="2800" b="1" dirty="0">
                <a:solidFill>
                  <a:schemeClr val="bg2"/>
                </a:solidFill>
                <a:ea typeface="Calibri" pitchFamily="34" charset="-122"/>
                <a:cs typeface="Calibri" pitchFamily="34" charset="-120"/>
              </a:rPr>
              <a:t>48</a:t>
            </a:r>
            <a:r>
              <a:rPr lang="ru-RU" sz="2800" b="1" dirty="0">
                <a:solidFill>
                  <a:schemeClr val="bg2"/>
                </a:solidFill>
              </a:rPr>
              <a:t>млрд ₽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2487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рынок EdTech России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9992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top-down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Ranking EdTech 202</a:t>
            </a:r>
            <a:r>
              <a:rPr lang="ru-RU" sz="9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6642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3533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64992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ru-RU" sz="2400" b="1" dirty="0">
                <a:solidFill>
                  <a:schemeClr val="bg2"/>
                </a:solidFill>
                <a:ea typeface="Calibri" pitchFamily="34" charset="-122"/>
                <a:cs typeface="Calibri" pitchFamily="34" charset="-120"/>
              </a:rPr>
              <a:t>4</a:t>
            </a:r>
            <a:r>
              <a:rPr lang="en-US" sz="2400" b="1" dirty="0">
                <a:solidFill>
                  <a:schemeClr val="bg2"/>
                </a:solidFill>
                <a:ea typeface="Calibri" pitchFamily="34" charset="-122"/>
                <a:cs typeface="Calibri" pitchFamily="34" charset="-120"/>
              </a:rPr>
              <a:t>.</a:t>
            </a:r>
            <a:r>
              <a:rPr lang="ru-RU" sz="2400" b="1" dirty="0">
                <a:solidFill>
                  <a:schemeClr val="bg2"/>
                </a:solidFill>
                <a:ea typeface="Calibri" pitchFamily="34" charset="-122"/>
                <a:cs typeface="Calibri" pitchFamily="34" charset="-120"/>
              </a:rPr>
              <a:t>8</a:t>
            </a:r>
            <a:r>
              <a:rPr lang="ru-RU" sz="2400" b="1" dirty="0">
                <a:solidFill>
                  <a:schemeClr val="bg2"/>
                </a:solidFill>
              </a:rPr>
              <a:t>млрд ₽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2944368"/>
            <a:ext cx="2651760" cy="181051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Text 11"/>
          <p:cNvSpPr/>
          <p:nvPr/>
        </p:nvSpPr>
        <p:spPr>
          <a:xfrm>
            <a:off x="3364992" y="3035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AI-инструменты для студентов РФ — ~10% от TAM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64992" y="3566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~ 112 </a:t>
            </a:r>
            <a:r>
              <a:rPr lang="en-US" sz="1500" b="1" dirty="0" err="1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15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b="1" dirty="0">
                <a:solidFill>
                  <a:srgbClr val="4C6EF5"/>
                </a:solidFill>
              </a:rPr>
              <a:t>₽</a:t>
            </a:r>
            <a:r>
              <a:rPr lang="en-US" sz="15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39776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Достижимая доля за 2 года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8 300 платящих × $15/мес × 12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743200" cy="256032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расчёта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7190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(top-down)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9659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России ≈ 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млрд руб.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2304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(комбинированный)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255117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AI-сегмент = 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млрд руб.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28895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(bottom-up)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31363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8 300 польз. × $15 × 12 = 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млн руб.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33832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2% от SAM-аудитории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97433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Smart Ranking EdTech </a:t>
            </a:r>
            <a:r>
              <a:rPr lang="en-US" sz="75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2025; Statista 2025; собственные расчёты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факторов, которые делают момент входа оптимальным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743200" cy="166420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2646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42646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стали дешёвыми и доступными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30352" y="190195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API-генерации снизилась в 10 раз за два года. Продукт, который было невозможно построить в 2022, сегодня запускается за несколько недель.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18688" y="1261872"/>
            <a:ext cx="2743200" cy="166420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2646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58768" y="142646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уже готовы к AI-инструментам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83280" y="190195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70% студентов технических вузов регулярно используют ChatGPT. Барьер «объяснить, что такое AI» полностью снят — аудитория подготовлена.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71616" y="1261872"/>
            <a:ext cx="2743200" cy="166420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42646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11696" y="142646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Цифровое обучение стало стандартом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236208" y="190195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Лекции в PDF, дистанционные экзамены, онлайн-материалы — после 2020 года студенты привыкли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учиться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дистанционно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ищут инструменты под этот формат.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3136392"/>
            <a:ext cx="4224528" cy="166420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30098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300984"/>
            <a:ext cx="3447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EdTech РФ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30352" y="3776472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EdTech в России растёт на 20%+ в год, но AI-сегмент занят универсальными инструментами. 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736592" y="3136392"/>
            <a:ext cx="4224528" cy="166420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3300984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76672" y="3300984"/>
            <a:ext cx="3447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Сессионность даёт предсказуемый спрос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901184" y="3776472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пика спроса в год — зимняя и летняя сессии — обеспечивают прогнозируемый трафик, удобный для планирования маркетинга и оценки выручки.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логики дека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ключевые вопросы инвестора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проблема и почему она существенна?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1188720" cy="228600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Проблема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27432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325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тратят 3–5 часов на поиск материалов и не могут проверить себя перед экзаменом. Подтверждено наблюдениями из студенческих Telegram-чатов и данными об использовании ChatGPT.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8412480" cy="80467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67128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целевой клиент и почему именно он?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42616"/>
            <a:ext cx="1188720" cy="22860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4261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Целевой клиент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11880" y="2258568"/>
            <a:ext cx="27432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25856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IT и технических вузов, 2–4 курс. Максимальная частота боли (2 сессии в год), высокая технологическая готовность к AI-инструментам, доступность через студенческие сообщества.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99816"/>
            <a:ext cx="8412480" cy="80467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99816"/>
            <a:ext cx="54864" cy="804672"/>
          </a:xfrm>
          <a:prstGeom prst="rect">
            <a:avLst/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729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 масштаб рыночной возможности?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1188720" cy="228600"/>
          </a:xfrm>
          <a:prstGeom prst="rect">
            <a:avLst/>
          </a:prstGeom>
          <a:solidFill>
            <a:srgbClr val="4C6EF5">
              <a:alpha val="40000"/>
            </a:srgbClr>
          </a:solidFill>
          <a:ln w="12700">
            <a:solidFill>
              <a:srgbClr val="4C6EF5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7530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Рынок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11880" y="3191256"/>
            <a:ext cx="27432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19125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$650 млн (EdTech РФ), SAM — $65 млн (AI-инструменты для студентов), SOM — $1.5 млн за 2 года при конверсии 2% от платёжеспособной аудитории в 1.2 млн человек.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32504"/>
            <a:ext cx="8412480" cy="80467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32504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056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команда входит на рынок именно сейчас?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07992"/>
            <a:ext cx="1188720" cy="22860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079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Почему сейчас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11880" y="4123944"/>
            <a:ext cx="27432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1239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Совпадение пяти факторов: доступность LLM API, готовность аудитории к AI, цифровизация обучения, рост рынка EdTech и отсутствие нишевых решений под подготовку к экзаменам.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источников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409194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и EdTech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2648" y="128016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Smart Ranking — Рейтинг EdTech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России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(smartranking.ru)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Statista — E-Learning market in Russia, 202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(statista.com)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2648" y="1773936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HolonIQ — Global EdTech Intelligence, 202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(holoniq.com)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Студенческая аудитория РФ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" y="242316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Минобрнауки России — статистика по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вузам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(minobrnauki.gov.ru)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267004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HeadHunter / hh.ru — цифровые привычки студентов, 202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и поведение пользователей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331927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Morning Consult — AI Consumer Adoption Report, 202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" y="356616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Similarweb — ChatGPT traffic &amp; demographics, 202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(similarweb.com)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Конкурентная среда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128016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Quizlet.com, Stepik.org, Skysmart.ru — публичные данные о продуктах и тарифах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52704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Product Hunt / G2 — пользовательские отзывы на EdTech-инструменты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901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Первичные наблюдения (desk research)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Telegram-каналы студентов технических факультетов — 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42316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Reddit: r/learnprogramming, r/cscareerquestions — обсуждения методов подготовки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70433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актуальны </a:t>
            </a:r>
            <a:r>
              <a:rPr lang="en-US" sz="8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</a:t>
            </a:r>
            <a:r>
              <a:rPr lang="ru-RU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5-2026</a:t>
            </a: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гг.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1047</Words>
  <Application>Microsoft Office PowerPoint</Application>
  <PresentationFormat>Экран (16:9)</PresentationFormat>
  <Paragraphs>133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Зубрилка — Pitch Deck</dc:title>
  <dc:subject>PptxGenJS Presentation</dc:subject>
  <dc:creator>PptxGenJS</dc:creator>
  <cp:lastModifiedBy>Артур Ткаченко</cp:lastModifiedBy>
  <cp:revision>17</cp:revision>
  <dcterms:created xsi:type="dcterms:W3CDTF">2026-04-21T06:12:52Z</dcterms:created>
  <dcterms:modified xsi:type="dcterms:W3CDTF">2026-04-21T07:01:02Z</dcterms:modified>
</cp:coreProperties>
</file>